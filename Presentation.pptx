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304" r:id="rId6"/>
    <p:sldId id="305" r:id="rId7"/>
    <p:sldId id="306" r:id="rId8"/>
    <p:sldId id="308" r:id="rId9"/>
    <p:sldId id="307" r:id="rId10"/>
    <p:sldId id="310" r:id="rId11"/>
    <p:sldId id="309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Mulish" panose="020B0604020202020204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Quicksand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F9D548-04DA-4586-BEBD-15D88104E77C}">
  <a:tblStyle styleId="{E3F9D548-04DA-4586-BEBD-15D88104E7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559CE4E8-2538-8D81-25CF-178C2DA4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4CFEE1E5-EB83-1D37-4F21-6432FF603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5EE64A1F-DE40-9A20-B406-39F5E127B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07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E490C30-C9CD-6A7B-2CE5-BC33EE3F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55DD41B5-D775-F1EC-5A39-854BB30B2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D44002E0-BEDB-064A-8238-A02FE103E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0228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C6430567-49DE-3BCD-48B9-27E65E96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9F507644-F4D6-01B7-BECD-FC41FC5ED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FD748CA7-B54F-32BE-A32A-3731EF65A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289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B433BA0F-ED62-75AC-8E95-FEA7B13A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FC0DCD15-06FD-5EFF-D6DE-D64A65032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8AB3B6D6-7EC3-32F4-A0C6-7A5C7EC34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767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A52A1BE0-9FA8-6813-5CAA-D5E20A87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965CDAE9-12ED-FEFD-7473-853EBAF3D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10B7619D-694C-54ED-E2FE-9548A3173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002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B370671F-8189-E5E5-7B46-C6C4BF41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6E56F79D-0DB0-A418-3703-3B4419693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D596E756-0022-C8E8-398E-5702FF1A0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336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875D8670-4C3B-4024-63A9-40DFF5F6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CC70DC57-5718-5936-76BE-41D8EC097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730BCD6C-5533-7EFB-06DD-28707E9B4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49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4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609200" y="1440373"/>
            <a:ext cx="5925600" cy="1019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Cost-Aware, Calibrated, and Explainable Prediction of Credit Card Default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i="1" dirty="0"/>
              <a:t>Name (Student ID) - </a:t>
            </a:r>
            <a:r>
              <a:rPr lang="en-GB" dirty="0"/>
              <a:t>MSc Data Science </a:t>
            </a:r>
            <a:br>
              <a:rPr lang="en-GB" dirty="0"/>
            </a:br>
            <a:r>
              <a:rPr lang="en-GB" dirty="0"/>
              <a:t>Supervisor: </a:t>
            </a:r>
            <a:r>
              <a:rPr lang="en-GB" i="1" dirty="0"/>
              <a:t>Dr. </a:t>
            </a:r>
          </a:p>
          <a:p>
            <a:pPr marL="0" lvl="0" indent="0" algn="l"/>
            <a:r>
              <a:rPr lang="en-GB" i="1" dirty="0" err="1"/>
              <a:t>Github</a:t>
            </a:r>
            <a:r>
              <a:rPr lang="en-GB" i="1" dirty="0"/>
              <a:t> Repo:</a:t>
            </a:r>
            <a:endParaRPr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54488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Motivation &amp; Problem Context</a:t>
            </a:r>
            <a:endParaRPr dirty="0"/>
          </a:p>
        </p:txBody>
      </p:sp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GB" dirty="0"/>
              <a:t>Default risk drives write-offs, capital allocation, and customer policy; even small lifts in early identification create meaningful cost savings.</a:t>
            </a:r>
          </a:p>
          <a:p>
            <a:pPr marL="285750" indent="-285750"/>
            <a:r>
              <a:rPr lang="en-GB" dirty="0"/>
              <a:t>Gap in many projects, Reporting AUC alone doesn’t translate to decisions. Lenders need calibrated probabilities, cost-aware thresholds, and clear reasons behind risk.</a:t>
            </a:r>
          </a:p>
          <a:p>
            <a:pPr marL="285750" indent="-285750"/>
            <a:r>
              <a:rPr lang="en-GB" dirty="0"/>
              <a:t>Our aim is to build a lightweight, reproducible pipeline that outputs trustworthy risk and a decision rule with business trade-offs made explicit.</a:t>
            </a:r>
          </a:p>
          <a:p>
            <a:pPr marL="285750" indent="-285750"/>
            <a:r>
              <a:rPr lang="en-GB" dirty="0"/>
              <a:t>Predict next-month default for credit card clients using the UCI dataset; move beyond accuracy to actionability and responsibility.</a:t>
            </a:r>
            <a:endParaRPr dirty="0"/>
          </a:p>
        </p:txBody>
      </p:sp>
      <p:sp>
        <p:nvSpPr>
          <p:cNvPr id="300" name="Google Shape;300;p3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Questions</a:t>
            </a:r>
            <a:endParaRPr dirty="0"/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8" name="Google Shape;296;p30">
            <a:extLst>
              <a:ext uri="{FF2B5EF4-FFF2-40B4-BE49-F238E27FC236}">
                <a16:creationId xmlns:a16="http://schemas.microsoft.com/office/drawing/2014/main" id="{D7695988-A690-7F19-14F0-45460CFEF7F1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accurately and calibrated can we predict default next month?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probability threshold minimizes expected business cost (FN ≫ FP)?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Which features drive risk globally, and what are the customer-level reasons (SHAP)?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stable is performance under missing data and across simple demographic slices?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Dataset Overview</a:t>
            </a:r>
            <a:endParaRPr dirty="0"/>
          </a:p>
        </p:txBody>
      </p:sp>
      <p:sp>
        <p:nvSpPr>
          <p:cNvPr id="348" name="Google Shape;348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2608F93E-EF43-ADD4-67F7-376525D96300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477402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 = 30,000 clients (Taiwan, 2005).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Target: </a:t>
            </a:r>
            <a:r>
              <a:rPr lang="en-GB" dirty="0" err="1"/>
              <a:t>default_payment_next_month</a:t>
            </a:r>
            <a:r>
              <a:rPr lang="en-GB" dirty="0"/>
              <a:t> (0/1).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Feature families: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Demographics: sex, education, marriage, 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Credit: </a:t>
            </a:r>
            <a:r>
              <a:rPr lang="en-GB" dirty="0" err="1"/>
              <a:t>limit_bal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Behaviour: pay_0..pay_6 (delinquency codes, −1 = pay duly, 1..9 = months late)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Balances: bill_amt1..6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Payments: pay_amt1..6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Class balance: Moderately imbalanced (baseline PR-AUC ≈ prevalence). (Insert your exact % from EDA.)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Split: Stratified 80/20 train/validation with a fixed random seed (reproducible).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9F90D030-9F6B-DBBE-9C37-6EA179BC1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1410972"/>
            <a:ext cx="3559717" cy="232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74718C7-4CEE-DAF4-D676-DB840116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3FDAF01C-585B-14B8-69E2-1372EFDBC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Data Preparation &amp; Feature Engineering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F36C7738-ECD3-F040-8F0F-250E5BBC07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3FDAC9C4-BAE2-E92E-A7C8-85AF8F733577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Code hygiene: education {0,5,6→4}, marriage {0→3}; clip all pay_* codes to [−1, 9].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Behaviour signals: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Utilization_k</a:t>
            </a:r>
            <a:r>
              <a:rPr lang="en-GB" dirty="0"/>
              <a:t> = </a:t>
            </a:r>
            <a:r>
              <a:rPr lang="en-GB" dirty="0" err="1"/>
              <a:t>bill_amtk</a:t>
            </a:r>
            <a:r>
              <a:rPr lang="en-GB" dirty="0"/>
              <a:t> / </a:t>
            </a:r>
            <a:r>
              <a:rPr lang="en-GB" dirty="0" err="1"/>
              <a:t>limit_bal</a:t>
            </a:r>
            <a:r>
              <a:rPr lang="en-GB" dirty="0"/>
              <a:t> (k=1..6) captures revolving intensity.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Pay_Ratio_k = </a:t>
            </a:r>
            <a:r>
              <a:rPr lang="en-GB" dirty="0" err="1"/>
              <a:t>pay_amtk</a:t>
            </a:r>
            <a:r>
              <a:rPr lang="en-GB" dirty="0"/>
              <a:t> / |</a:t>
            </a:r>
            <a:r>
              <a:rPr lang="en-GB" dirty="0" err="1"/>
              <a:t>bill_amtk</a:t>
            </a:r>
            <a:r>
              <a:rPr lang="en-GB" dirty="0"/>
              <a:t>| (safe-divide) captures recent repayment effort.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Recency features: </a:t>
            </a:r>
            <a:r>
              <a:rPr lang="en-GB" dirty="0" err="1"/>
              <a:t>utilization_recent_mean</a:t>
            </a:r>
            <a:r>
              <a:rPr lang="en-GB" dirty="0"/>
              <a:t>, </a:t>
            </a:r>
            <a:r>
              <a:rPr lang="en-GB" dirty="0" err="1"/>
              <a:t>pay_ratio_recent_mean</a:t>
            </a:r>
            <a:r>
              <a:rPr lang="en-GB" dirty="0"/>
              <a:t> (months 1–2) emphasize latest behaviour.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1D508-E005-E060-95CB-6610DF9EF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" y="3117184"/>
            <a:ext cx="8694420" cy="12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5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EDDCF7B-3020-74A5-8539-18D2F6D0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1030B92E-C6AE-F6AB-3517-2159503F61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Methods — Models &amp; Training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EDB4D03-B69F-4028-6858-9AF43693BF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612F7403-EB9A-C21C-774D-9574715CC4CC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Logistic Regression (</a:t>
            </a:r>
            <a:r>
              <a:rPr lang="en-GB" dirty="0" err="1"/>
              <a:t>class_weight</a:t>
            </a:r>
            <a:r>
              <a:rPr lang="en-GB" dirty="0"/>
              <a:t>='balanced'; standardized features) — interpretable baseline.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r>
              <a:rPr lang="en-GB" dirty="0"/>
              <a:t> (handles non-linearity; </a:t>
            </a:r>
            <a:r>
              <a:rPr lang="en-GB" dirty="0" err="1"/>
              <a:t>scale_pos_weight</a:t>
            </a:r>
            <a:r>
              <a:rPr lang="en-GB" dirty="0"/>
              <a:t> for imbalance) — strong tabular learner.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Evaluation focus: ROC-AUC for separability, PR-AUC for imbalanced positives, plus Brier score and reliability curves after calibration.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Reproducibility: Fixed random seeds; clear preprocessing; versioned notebook.</a:t>
            </a:r>
          </a:p>
        </p:txBody>
      </p:sp>
    </p:spTree>
    <p:extLst>
      <p:ext uri="{BB962C8B-B14F-4D97-AF65-F5344CB8AC3E}">
        <p14:creationId xmlns:p14="http://schemas.microsoft.com/office/powerpoint/2010/main" val="13589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0B3B6AF-4564-B993-FB57-F4DA5DDB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116D6C68-D0F5-69ED-AA8E-0059FFE5EC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Results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4271A58E-5184-A596-3519-6E12F62B7C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AAAB9225-310A-9975-36D5-DFBE3AD3EC3C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Logistic Regression (baseline): ROC-AUC ≈ 0.731, PR-AUC ≈ 0.500.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r>
              <a:rPr lang="en-GB" dirty="0"/>
              <a:t>: ROC-AUC ≈ 0.774, PR-AUC ≈ 0.550 — ~2–2.5× baseline prevalence; clear lift over Logistic.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Calibrated XGB: Similar ROC/PR (ROC-AUC ≈ 0.776, PR-AUC ≈ 0.554), better calibration.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349D97-4998-3D43-F6CA-0E64B9568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836" y="2302305"/>
            <a:ext cx="3382327" cy="230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43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0A34A2C-FE69-918A-46D7-F64CDA9F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D9313131-5690-A8A8-24BF-6A8051F095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Contributions 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FE5F344-B35E-AD7B-10A8-43B5A4CEBB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036B3991-5A98-F080-87D7-75DD9380D746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Decision-focused: not just accuracy — we select a business-aligned threshold that minimizes expected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Trustworthy risk: calibrated probabilities (isotonic).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High-signal but simple features: utilisation and payment ratios + recency give interpretable lift.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Reproducible baseline: clear preprocessing, fixed seed, and hold-out validation.</a:t>
            </a:r>
          </a:p>
        </p:txBody>
      </p:sp>
    </p:spTree>
    <p:extLst>
      <p:ext uri="{BB962C8B-B14F-4D97-AF65-F5344CB8AC3E}">
        <p14:creationId xmlns:p14="http://schemas.microsoft.com/office/powerpoint/2010/main" val="39989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587B3A7-85B8-F37F-5AE1-B0958803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41798D05-47E5-CD1E-255D-09141744E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What's Next ?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7B93F6A7-11EB-8AD7-3921-11CE3938DC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772F9C5B-2C95-1BC4-BE39-C11AC85263B9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Explainability: SHAP global &amp; per-customer case studies (turn risk into levers).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Light fairness &amp; robustness: slice by SEX/EDUCATION/MARRIAGE; stress test with missingness.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Cost-Aware Policy calculation, Converts a score into a decision rule with an explicit business trade-off.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Introducing Deep Learning Models and comparing them with the previous models.</a:t>
            </a:r>
          </a:p>
        </p:txBody>
      </p:sp>
    </p:spTree>
    <p:extLst>
      <p:ext uri="{BB962C8B-B14F-4D97-AF65-F5344CB8AC3E}">
        <p14:creationId xmlns:p14="http://schemas.microsoft.com/office/powerpoint/2010/main" val="218712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14CF1D0-C393-9472-DC89-45F805C7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CF37B6A7-BAF5-20AF-BC21-D870D8A410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References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455893B6-985D-8959-C9E7-B84D31C6A7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20BF683C-7EB0-FF67-FE92-95200BA38471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Yeh, I-C., &amp; Lien, C.-H. (2009). The comparisons of data mining techniques for the predictive accuracy of probability of default of credit card clients. Expert Systems with Applications, 36(2), 2473–2480. (Source of the UCI 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Chen, T., &amp; </a:t>
            </a:r>
            <a:r>
              <a:rPr lang="en-GB" dirty="0" err="1"/>
              <a:t>Guestrin</a:t>
            </a:r>
            <a:r>
              <a:rPr lang="en-GB" dirty="0"/>
              <a:t>, C. (2016). </a:t>
            </a:r>
            <a:r>
              <a:rPr lang="en-GB" i="1" dirty="0" err="1"/>
              <a:t>XGBoost</a:t>
            </a:r>
            <a:r>
              <a:rPr lang="en-GB" i="1" dirty="0"/>
              <a:t>: A scalable tree boosting system.</a:t>
            </a:r>
            <a:r>
              <a:rPr lang="en-GB" dirty="0"/>
              <a:t> In KDD ’16 (pp. 785–794).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Lundberg, S. M., &amp; Lee, S.-I. (2017). A unified approach to interpreting model predictions. In </a:t>
            </a:r>
            <a:r>
              <a:rPr lang="en-GB" dirty="0" err="1"/>
              <a:t>NeurIPS</a:t>
            </a:r>
            <a:r>
              <a:rPr lang="en-GB" dirty="0"/>
              <a:t> ’17 (pp. 4765–4774). (SHAP)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Niculescu-Mizil, A., &amp; Caruana, R. (2005). Predicting good probabilities with supervised learning. In ICML ’05 (pp. 625–632). (Probability quality)</a:t>
            </a:r>
          </a:p>
        </p:txBody>
      </p:sp>
    </p:spTree>
    <p:extLst>
      <p:ext uri="{BB962C8B-B14F-4D97-AF65-F5344CB8AC3E}">
        <p14:creationId xmlns:p14="http://schemas.microsoft.com/office/powerpoint/2010/main" val="1832417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12A4975-1178-D07D-8ADC-5D21D6E61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8BC87E2-5CB4-C552-ADFC-697561EC69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" name="Google Shape;799;p56">
            <a:extLst>
              <a:ext uri="{FF2B5EF4-FFF2-40B4-BE49-F238E27FC236}">
                <a16:creationId xmlns:a16="http://schemas.microsoft.com/office/drawing/2014/main" id="{2AD548AF-1384-CC0D-6404-842B19322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7938" y="130962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Thanks!</a:t>
            </a:r>
            <a:endParaRPr sz="6600" dirty="0"/>
          </a:p>
        </p:txBody>
      </p:sp>
      <p:cxnSp>
        <p:nvCxnSpPr>
          <p:cNvPr id="5" name="Google Shape;802;p56">
            <a:extLst>
              <a:ext uri="{FF2B5EF4-FFF2-40B4-BE49-F238E27FC236}">
                <a16:creationId xmlns:a16="http://schemas.microsoft.com/office/drawing/2014/main" id="{D5AD3514-CDB7-2C99-7EFA-5C25066A8338}"/>
              </a:ext>
            </a:extLst>
          </p:cNvPr>
          <p:cNvCxnSpPr/>
          <p:nvPr/>
        </p:nvCxnSpPr>
        <p:spPr>
          <a:xfrm>
            <a:off x="2202000" y="2373145"/>
            <a:ext cx="4740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803;p56">
            <a:extLst>
              <a:ext uri="{FF2B5EF4-FFF2-40B4-BE49-F238E27FC236}">
                <a16:creationId xmlns:a16="http://schemas.microsoft.com/office/drawing/2014/main" id="{50558F7D-2856-58E5-D146-BACFB1F8C29C}"/>
              </a:ext>
            </a:extLst>
          </p:cNvPr>
          <p:cNvSpPr/>
          <p:nvPr/>
        </p:nvSpPr>
        <p:spPr>
          <a:xfrm>
            <a:off x="1650400" y="173018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04;p56">
            <a:extLst>
              <a:ext uri="{FF2B5EF4-FFF2-40B4-BE49-F238E27FC236}">
                <a16:creationId xmlns:a16="http://schemas.microsoft.com/office/drawing/2014/main" id="{3BA28256-3790-6F6B-98CB-03CB657DAF12}"/>
              </a:ext>
            </a:extLst>
          </p:cNvPr>
          <p:cNvSpPr/>
          <p:nvPr/>
        </p:nvSpPr>
        <p:spPr>
          <a:xfrm>
            <a:off x="7254100" y="173018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86836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Office PowerPoint</Application>
  <PresentationFormat>On-screen Show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Mulish</vt:lpstr>
      <vt:lpstr>Arial</vt:lpstr>
      <vt:lpstr>Quicksand</vt:lpstr>
      <vt:lpstr>Nunito Light</vt:lpstr>
      <vt:lpstr>Bebas Neue</vt:lpstr>
      <vt:lpstr>Elegant Bachelor Thesis by Slidesgo</vt:lpstr>
      <vt:lpstr>Cost-Aware, Calibrated, and Explainable Prediction of Credit Card Default</vt:lpstr>
      <vt:lpstr>Motivation &amp; Problem Context</vt:lpstr>
      <vt:lpstr>Research Questions</vt:lpstr>
      <vt:lpstr>Dataset Overview</vt:lpstr>
      <vt:lpstr>Data Preparation &amp; Feature Engineering</vt:lpstr>
      <vt:lpstr>Methods — Models &amp; Training</vt:lpstr>
      <vt:lpstr>Results</vt:lpstr>
      <vt:lpstr>Contributions </vt:lpstr>
      <vt:lpstr>What's Next ?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Anish Akode</cp:lastModifiedBy>
  <cp:revision>2</cp:revision>
  <dcterms:modified xsi:type="dcterms:W3CDTF">2025-11-21T23:06:13Z</dcterms:modified>
</cp:coreProperties>
</file>