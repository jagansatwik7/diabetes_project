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5"/>
  </p:notesMasterIdLst>
  <p:sldIdLst>
    <p:sldId id="256" r:id="rId2"/>
    <p:sldId id="304" r:id="rId3"/>
    <p:sldId id="305" r:id="rId4"/>
    <p:sldId id="306" r:id="rId5"/>
    <p:sldId id="307" r:id="rId6"/>
    <p:sldId id="308" r:id="rId7"/>
    <p:sldId id="309" r:id="rId8"/>
    <p:sldId id="314" r:id="rId9"/>
    <p:sldId id="310" r:id="rId10"/>
    <p:sldId id="311" r:id="rId11"/>
    <p:sldId id="312" r:id="rId12"/>
    <p:sldId id="313" r:id="rId13"/>
    <p:sldId id="262" r:id="rId14"/>
  </p:sldIdLst>
  <p:sldSz cx="9144000" cy="5143500" type="screen16x9"/>
  <p:notesSz cx="6858000" cy="9144000"/>
  <p:embeddedFontLst>
    <p:embeddedFont>
      <p:font typeface="Mulish" panose="020B0604020202020204" charset="0"/>
      <p:regular r:id="rId16"/>
      <p:bold r:id="rId17"/>
      <p:italic r:id="rId18"/>
      <p:boldItalic r:id="rId19"/>
    </p:embeddedFont>
    <p:embeddedFont>
      <p:font typeface="Nunito" pitchFamily="2" charset="0"/>
      <p:regular r:id="rId20"/>
      <p:bold r:id="rId21"/>
      <p:italic r:id="rId22"/>
      <p:boldItalic r:id="rId23"/>
    </p:embeddedFont>
    <p:embeddedFont>
      <p:font typeface="Nunito Light" pitchFamily="2" charset="0"/>
      <p:regular r:id="rId24"/>
      <p:italic r:id="rId25"/>
    </p:embeddedFont>
    <p:embeddedFont>
      <p:font typeface="Quicksand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335DDE8-C878-44DD-89D8-B437395AEDB2}">
  <a:tblStyle styleId="{F335DDE8-C878-44DD-89D8-B437395AED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>
          <a:extLst>
            <a:ext uri="{FF2B5EF4-FFF2-40B4-BE49-F238E27FC236}">
              <a16:creationId xmlns:a16="http://schemas.microsoft.com/office/drawing/2014/main" id="{3889823D-BB51-324E-A241-67FCB53FC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32:notes">
            <a:extLst>
              <a:ext uri="{FF2B5EF4-FFF2-40B4-BE49-F238E27FC236}">
                <a16:creationId xmlns:a16="http://schemas.microsoft.com/office/drawing/2014/main" id="{D479AFCD-C0F0-18A5-5985-5E5B157A1A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32:notes">
            <a:extLst>
              <a:ext uri="{FF2B5EF4-FFF2-40B4-BE49-F238E27FC236}">
                <a16:creationId xmlns:a16="http://schemas.microsoft.com/office/drawing/2014/main" id="{3E5D7D18-966E-6323-4B0E-E3860559EF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1236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>
          <a:extLst>
            <a:ext uri="{FF2B5EF4-FFF2-40B4-BE49-F238E27FC236}">
              <a16:creationId xmlns:a16="http://schemas.microsoft.com/office/drawing/2014/main" id="{72DCEF97-0C7B-24B7-69C6-57919860C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32:notes">
            <a:extLst>
              <a:ext uri="{FF2B5EF4-FFF2-40B4-BE49-F238E27FC236}">
                <a16:creationId xmlns:a16="http://schemas.microsoft.com/office/drawing/2014/main" id="{21BD2F67-E6C3-2F26-04FF-ECEEA98C64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32:notes">
            <a:extLst>
              <a:ext uri="{FF2B5EF4-FFF2-40B4-BE49-F238E27FC236}">
                <a16:creationId xmlns:a16="http://schemas.microsoft.com/office/drawing/2014/main" id="{58D784E7-BED5-592D-22EB-680052F24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0001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>
          <a:extLst>
            <a:ext uri="{FF2B5EF4-FFF2-40B4-BE49-F238E27FC236}">
              <a16:creationId xmlns:a16="http://schemas.microsoft.com/office/drawing/2014/main" id="{074EF76F-29CE-C9CC-46BD-179CA819C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32:notes">
            <a:extLst>
              <a:ext uri="{FF2B5EF4-FFF2-40B4-BE49-F238E27FC236}">
                <a16:creationId xmlns:a16="http://schemas.microsoft.com/office/drawing/2014/main" id="{6764EB32-54E0-A729-6C87-3BF4C61497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32:notes">
            <a:extLst>
              <a:ext uri="{FF2B5EF4-FFF2-40B4-BE49-F238E27FC236}">
                <a16:creationId xmlns:a16="http://schemas.microsoft.com/office/drawing/2014/main" id="{5C4FFEAF-A300-5009-C343-383F3DD0B7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30366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>
          <a:extLst>
            <a:ext uri="{FF2B5EF4-FFF2-40B4-BE49-F238E27FC236}">
              <a16:creationId xmlns:a16="http://schemas.microsoft.com/office/drawing/2014/main" id="{C7E6B1B9-1D21-B4D1-C52B-78E47B857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32:notes">
            <a:extLst>
              <a:ext uri="{FF2B5EF4-FFF2-40B4-BE49-F238E27FC236}">
                <a16:creationId xmlns:a16="http://schemas.microsoft.com/office/drawing/2014/main" id="{68485EF2-D16E-06C3-C096-7F6B7921CC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32:notes">
            <a:extLst>
              <a:ext uri="{FF2B5EF4-FFF2-40B4-BE49-F238E27FC236}">
                <a16:creationId xmlns:a16="http://schemas.microsoft.com/office/drawing/2014/main" id="{B1B120A3-6C4F-B19E-444F-E43A7D387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6545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>
          <a:extLst>
            <a:ext uri="{FF2B5EF4-FFF2-40B4-BE49-F238E27FC236}">
              <a16:creationId xmlns:a16="http://schemas.microsoft.com/office/drawing/2014/main" id="{E52FE108-ED3E-B3D8-5C8E-7FEE3F0FD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32:notes">
            <a:extLst>
              <a:ext uri="{FF2B5EF4-FFF2-40B4-BE49-F238E27FC236}">
                <a16:creationId xmlns:a16="http://schemas.microsoft.com/office/drawing/2014/main" id="{71BF03E9-F528-4B14-8B90-F6FC6A8371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32:notes">
            <a:extLst>
              <a:ext uri="{FF2B5EF4-FFF2-40B4-BE49-F238E27FC236}">
                <a16:creationId xmlns:a16="http://schemas.microsoft.com/office/drawing/2014/main" id="{C5585D21-0B13-98CB-D606-2D8BC7BF02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3102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>
          <a:extLst>
            <a:ext uri="{FF2B5EF4-FFF2-40B4-BE49-F238E27FC236}">
              <a16:creationId xmlns:a16="http://schemas.microsoft.com/office/drawing/2014/main" id="{E33EE2F2-4EE8-E9CB-9BEF-E5FC51EA0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32:notes">
            <a:extLst>
              <a:ext uri="{FF2B5EF4-FFF2-40B4-BE49-F238E27FC236}">
                <a16:creationId xmlns:a16="http://schemas.microsoft.com/office/drawing/2014/main" id="{D68AFAB3-8C2B-8617-3B2C-2A55D70409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32:notes">
            <a:extLst>
              <a:ext uri="{FF2B5EF4-FFF2-40B4-BE49-F238E27FC236}">
                <a16:creationId xmlns:a16="http://schemas.microsoft.com/office/drawing/2014/main" id="{236D5529-D7E0-0697-0FC3-6E7E81A5F2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81020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>
          <a:extLst>
            <a:ext uri="{FF2B5EF4-FFF2-40B4-BE49-F238E27FC236}">
              <a16:creationId xmlns:a16="http://schemas.microsoft.com/office/drawing/2014/main" id="{6F55E394-CC86-8736-91AE-B3F5D62DB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32:notes">
            <a:extLst>
              <a:ext uri="{FF2B5EF4-FFF2-40B4-BE49-F238E27FC236}">
                <a16:creationId xmlns:a16="http://schemas.microsoft.com/office/drawing/2014/main" id="{AF6D5297-C1C9-A731-5D2A-8402C58A44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32:notes">
            <a:extLst>
              <a:ext uri="{FF2B5EF4-FFF2-40B4-BE49-F238E27FC236}">
                <a16:creationId xmlns:a16="http://schemas.microsoft.com/office/drawing/2014/main" id="{B1FC0148-23D0-B6C1-C100-1304880AFB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47970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>
          <a:extLst>
            <a:ext uri="{FF2B5EF4-FFF2-40B4-BE49-F238E27FC236}">
              <a16:creationId xmlns:a16="http://schemas.microsoft.com/office/drawing/2014/main" id="{374F2C8A-1E2D-95BC-717D-DCF1220B2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32:notes">
            <a:extLst>
              <a:ext uri="{FF2B5EF4-FFF2-40B4-BE49-F238E27FC236}">
                <a16:creationId xmlns:a16="http://schemas.microsoft.com/office/drawing/2014/main" id="{C505CE6F-0206-DF73-DA7E-C042ED48F7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32:notes">
            <a:extLst>
              <a:ext uri="{FF2B5EF4-FFF2-40B4-BE49-F238E27FC236}">
                <a16:creationId xmlns:a16="http://schemas.microsoft.com/office/drawing/2014/main" id="{2A7FF7D5-2308-BBB6-D64B-1BD9C76BFB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7294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>
          <a:extLst>
            <a:ext uri="{FF2B5EF4-FFF2-40B4-BE49-F238E27FC236}">
              <a16:creationId xmlns:a16="http://schemas.microsoft.com/office/drawing/2014/main" id="{64E6BF12-4BCD-C00B-D77D-D251D96D1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32:notes">
            <a:extLst>
              <a:ext uri="{FF2B5EF4-FFF2-40B4-BE49-F238E27FC236}">
                <a16:creationId xmlns:a16="http://schemas.microsoft.com/office/drawing/2014/main" id="{F8927633-5C17-B54E-38F2-48DA528603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32:notes">
            <a:extLst>
              <a:ext uri="{FF2B5EF4-FFF2-40B4-BE49-F238E27FC236}">
                <a16:creationId xmlns:a16="http://schemas.microsoft.com/office/drawing/2014/main" id="{AF5F6786-5B47-453D-9745-B1B09441A0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69479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>
          <a:extLst>
            <a:ext uri="{FF2B5EF4-FFF2-40B4-BE49-F238E27FC236}">
              <a16:creationId xmlns:a16="http://schemas.microsoft.com/office/drawing/2014/main" id="{792B52D7-A4E6-BE3C-6697-3DD80B6E4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32:notes">
            <a:extLst>
              <a:ext uri="{FF2B5EF4-FFF2-40B4-BE49-F238E27FC236}">
                <a16:creationId xmlns:a16="http://schemas.microsoft.com/office/drawing/2014/main" id="{6E5C4E7F-CC01-EAF9-EDF7-6CE0829E10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32:notes">
            <a:extLst>
              <a:ext uri="{FF2B5EF4-FFF2-40B4-BE49-F238E27FC236}">
                <a16:creationId xmlns:a16="http://schemas.microsoft.com/office/drawing/2014/main" id="{B0C81B91-4311-8C22-4350-560D11D26C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68864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>
          <a:extLst>
            <a:ext uri="{FF2B5EF4-FFF2-40B4-BE49-F238E27FC236}">
              <a16:creationId xmlns:a16="http://schemas.microsoft.com/office/drawing/2014/main" id="{D3C2B9CA-BA15-DDB3-F858-674F96104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32:notes">
            <a:extLst>
              <a:ext uri="{FF2B5EF4-FFF2-40B4-BE49-F238E27FC236}">
                <a16:creationId xmlns:a16="http://schemas.microsoft.com/office/drawing/2014/main" id="{A3737240-E2ED-2F97-D055-5722C4E1DF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32:notes">
            <a:extLst>
              <a:ext uri="{FF2B5EF4-FFF2-40B4-BE49-F238E27FC236}">
                <a16:creationId xmlns:a16="http://schemas.microsoft.com/office/drawing/2014/main" id="{00BEDA8B-A369-C603-DDBB-B271820114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39655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dd46dd1d67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1dd46dd1d67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2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" name="Google Shape;28;p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9" name="Google Shape;29;p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" name="Google Shape;30;p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1" name="Google Shape;31;p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" name="Google Shape;33;p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6" name="Google Shape;86;p1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87" name="Google Shape;87;p1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8" name="Google Shape;88;p1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9" name="Google Shape;89;p1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90" name="Google Shape;90;p11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1" name="Google Shape;91;p1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92" name="Google Shape;92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429725"/>
            <a:ext cx="6576000" cy="140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3" name="Google Shape;93;p11"/>
          <p:cNvSpPr txBox="1">
            <a:spLocks noGrp="1"/>
          </p:cNvSpPr>
          <p:nvPr>
            <p:ph type="subTitle" idx="1"/>
          </p:nvPr>
        </p:nvSpPr>
        <p:spPr>
          <a:xfrm>
            <a:off x="1284000" y="2985500"/>
            <a:ext cx="6576000" cy="4971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2" name="Google Shape;262;p2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3" name="Google Shape;263;p2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4" name="Google Shape;264;p2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5" name="Google Shape;265;p2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6" name="Google Shape;266;p24"/>
          <p:cNvSpPr txBox="1">
            <a:spLocks noGrp="1"/>
          </p:cNvSpPr>
          <p:nvPr>
            <p:ph type="sldNum" idx="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lt1"/>
                </a:solidFill>
              </a:defRPr>
            </a:lvl1pPr>
            <a:lvl2pPr lvl="1" algn="ctr" rtl="0">
              <a:buNone/>
              <a:defRPr>
                <a:solidFill>
                  <a:schemeClr val="lt1"/>
                </a:solidFill>
              </a:defRPr>
            </a:lvl2pPr>
            <a:lvl3pPr lvl="2" algn="ctr" rtl="0">
              <a:buNone/>
              <a:defRPr>
                <a:solidFill>
                  <a:schemeClr val="lt1"/>
                </a:solidFill>
              </a:defRPr>
            </a:lvl3pPr>
            <a:lvl4pPr lvl="3" algn="ctr" rtl="0">
              <a:buNone/>
              <a:defRPr>
                <a:solidFill>
                  <a:schemeClr val="lt1"/>
                </a:solidFill>
              </a:defRPr>
            </a:lvl4pPr>
            <a:lvl5pPr lvl="4" algn="ctr" rtl="0">
              <a:buNone/>
              <a:defRPr>
                <a:solidFill>
                  <a:schemeClr val="lt1"/>
                </a:solidFill>
              </a:defRPr>
            </a:lvl5pPr>
            <a:lvl6pPr lvl="5" algn="ctr" rtl="0">
              <a:buNone/>
              <a:defRPr>
                <a:solidFill>
                  <a:schemeClr val="lt1"/>
                </a:solidFill>
              </a:defRPr>
            </a:lvl6pPr>
            <a:lvl7pPr lvl="6" algn="ctr" rtl="0">
              <a:buNone/>
              <a:defRPr>
                <a:solidFill>
                  <a:schemeClr val="lt1"/>
                </a:solidFill>
              </a:defRPr>
            </a:lvl7pPr>
            <a:lvl8pPr lvl="7" algn="ctr" rtl="0">
              <a:buNone/>
              <a:defRPr>
                <a:solidFill>
                  <a:schemeClr val="lt1"/>
                </a:solidFill>
              </a:defRPr>
            </a:lvl8pPr>
            <a:lvl9pPr lvl="8" algn="ctr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7" name="Google Shape;267;p2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1" name="Google Shape;271;p2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72" name="Google Shape;272;p2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3" name="Google Shape;273;p2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74" name="Google Shape;274;p25"/>
          <p:cNvCxnSpPr/>
          <p:nvPr/>
        </p:nvCxnSpPr>
        <p:spPr>
          <a:xfrm rot="10800000" flipH="1">
            <a:off x="347659" y="4749851"/>
            <a:ext cx="8448600" cy="33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7" r:id="rId4"/>
    <p:sldLayoutId id="2147483658" r:id="rId5"/>
    <p:sldLayoutId id="2147483670" r:id="rId6"/>
    <p:sldLayoutId id="2147483671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"/>
          <p:cNvSpPr txBox="1">
            <a:spLocks noGrp="1"/>
          </p:cNvSpPr>
          <p:nvPr>
            <p:ph type="ctrTitle"/>
          </p:nvPr>
        </p:nvSpPr>
        <p:spPr>
          <a:xfrm>
            <a:off x="1626300" y="1432372"/>
            <a:ext cx="5925600" cy="103214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1600" dirty="0"/>
              <a:t>Comparative Analysis of Logistic Regression, Random Forest, and Deep Neural Networks for Diabetes Prediction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286" name="Google Shape;286;p29"/>
          <p:cNvSpPr txBox="1">
            <a:spLocks noGrp="1"/>
          </p:cNvSpPr>
          <p:nvPr>
            <p:ph type="subTitle" idx="1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287" name="Google Shape;287;p29"/>
          <p:cNvCxnSpPr/>
          <p:nvPr/>
        </p:nvCxnSpPr>
        <p:spPr>
          <a:xfrm rot="10800000" flipH="1">
            <a:off x="1600600" y="2544888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88" name="Google Shape;288;p29"/>
          <p:cNvCxnSpPr/>
          <p:nvPr/>
        </p:nvCxnSpPr>
        <p:spPr>
          <a:xfrm rot="10800000" flipH="1">
            <a:off x="1600600" y="1348663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>
          <a:extLst>
            <a:ext uri="{FF2B5EF4-FFF2-40B4-BE49-F238E27FC236}">
              <a16:creationId xmlns:a16="http://schemas.microsoft.com/office/drawing/2014/main" id="{5CCA292F-E04D-3A41-DE6A-3CBF9046D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>
            <a:extLst>
              <a:ext uri="{FF2B5EF4-FFF2-40B4-BE49-F238E27FC236}">
                <a16:creationId xmlns:a16="http://schemas.microsoft.com/office/drawing/2014/main" id="{BB98BC22-DA63-745D-0D63-A1CCA8C622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Research Gap</a:t>
            </a:r>
            <a:endParaRPr dirty="0"/>
          </a:p>
        </p:txBody>
      </p:sp>
      <p:sp>
        <p:nvSpPr>
          <p:cNvPr id="504" name="Google Shape;504;p44">
            <a:extLst>
              <a:ext uri="{FF2B5EF4-FFF2-40B4-BE49-F238E27FC236}">
                <a16:creationId xmlns:a16="http://schemas.microsoft.com/office/drawing/2014/main" id="{8EEABD32-B19D-CBDE-DD52-7D5EE3A874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Diabetes is a significant global health issue with high health and economic consequences.</a:t>
            </a:r>
          </a:p>
          <a:p>
            <a:r>
              <a:rPr lang="en-US" dirty="0"/>
              <a:t>Early identification of high-risk individuals is crucial for timely intervention and prevention.</a:t>
            </a:r>
          </a:p>
          <a:p>
            <a:r>
              <a:rPr lang="en-US" dirty="0"/>
              <a:t>Machine learning models have potential for diabetes prediction but require comparative evaluation.</a:t>
            </a:r>
          </a:p>
          <a:p>
            <a:r>
              <a:rPr lang="en-US" dirty="0"/>
              <a:t>Gap: Need to identify the most effective predictive model using clinical and lifestyle data.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endParaRPr dirty="0"/>
          </a:p>
        </p:txBody>
      </p:sp>
      <p:sp>
        <p:nvSpPr>
          <p:cNvPr id="505" name="Google Shape;505;p44">
            <a:extLst>
              <a:ext uri="{FF2B5EF4-FFF2-40B4-BE49-F238E27FC236}">
                <a16:creationId xmlns:a16="http://schemas.microsoft.com/office/drawing/2014/main" id="{C0DE1230-B11D-1E51-1515-B7502ABBFC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8081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>
          <a:extLst>
            <a:ext uri="{FF2B5EF4-FFF2-40B4-BE49-F238E27FC236}">
              <a16:creationId xmlns:a16="http://schemas.microsoft.com/office/drawing/2014/main" id="{F443AA57-BD6F-0BA7-4957-C667E550B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>
            <a:extLst>
              <a:ext uri="{FF2B5EF4-FFF2-40B4-BE49-F238E27FC236}">
                <a16:creationId xmlns:a16="http://schemas.microsoft.com/office/drawing/2014/main" id="{8CCD8D5F-A69E-2684-B1D2-4E78E822C9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Aim (Research Question)</a:t>
            </a:r>
            <a:endParaRPr lang="en-US" b="0" dirty="0"/>
          </a:p>
        </p:txBody>
      </p:sp>
      <p:sp>
        <p:nvSpPr>
          <p:cNvPr id="504" name="Google Shape;504;p44">
            <a:extLst>
              <a:ext uri="{FF2B5EF4-FFF2-40B4-BE49-F238E27FC236}">
                <a16:creationId xmlns:a16="http://schemas.microsoft.com/office/drawing/2014/main" id="{7C986A67-3287-7FA5-56CF-C8304A27A7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590906"/>
            <a:ext cx="7704000" cy="28579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indent="0">
              <a:buNone/>
            </a:pPr>
            <a:r>
              <a:rPr lang="en-US" b="1" dirty="0"/>
              <a:t>Aim:</a:t>
            </a:r>
            <a:endParaRPr lang="en-US" dirty="0"/>
          </a:p>
          <a:p>
            <a:r>
              <a:rPr lang="en-US" dirty="0"/>
              <a:t>Develop predictive models to predict diabetes outcomes based on clinical characteristics.</a:t>
            </a:r>
          </a:p>
          <a:p>
            <a:r>
              <a:rPr lang="en-US" dirty="0"/>
              <a:t>Conduct a comparative study of machine learning methods to select the most effective model for early detection and prevention.</a:t>
            </a:r>
            <a:br>
              <a:rPr lang="en-US" dirty="0"/>
            </a:br>
            <a:endParaRPr lang="en-US" dirty="0"/>
          </a:p>
          <a:p>
            <a:pPr marL="177800" indent="0">
              <a:buNone/>
            </a:pPr>
            <a:r>
              <a:rPr lang="en-US" b="1" dirty="0"/>
              <a:t>Research Question:</a:t>
            </a:r>
            <a:endParaRPr lang="en-US" dirty="0"/>
          </a:p>
          <a:p>
            <a:r>
              <a:rPr lang="en-US" dirty="0"/>
              <a:t>How does a Deep Neural Network (DNN) compare to Logistic Regression and Random Forest in predicting diabetes outcomes based on clinical features?</a:t>
            </a:r>
            <a:br>
              <a:rPr lang="en-US" dirty="0"/>
            </a:br>
            <a:endParaRPr lang="en-US" dirty="0"/>
          </a:p>
        </p:txBody>
      </p:sp>
      <p:sp>
        <p:nvSpPr>
          <p:cNvPr id="505" name="Google Shape;505;p44">
            <a:extLst>
              <a:ext uri="{FF2B5EF4-FFF2-40B4-BE49-F238E27FC236}">
                <a16:creationId xmlns:a16="http://schemas.microsoft.com/office/drawing/2014/main" id="{376D30CA-DAD2-A1FE-DA4B-D372C2D842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5761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>
          <a:extLst>
            <a:ext uri="{FF2B5EF4-FFF2-40B4-BE49-F238E27FC236}">
              <a16:creationId xmlns:a16="http://schemas.microsoft.com/office/drawing/2014/main" id="{EC4F2E03-7ED2-B79C-1B01-FBF74B2F8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>
            <a:extLst>
              <a:ext uri="{FF2B5EF4-FFF2-40B4-BE49-F238E27FC236}">
                <a16:creationId xmlns:a16="http://schemas.microsoft.com/office/drawing/2014/main" id="{5BFA6B41-7124-5B14-8F32-F078D2FB14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Research Objectives</a:t>
            </a:r>
            <a:endParaRPr lang="en-US" b="0" dirty="0"/>
          </a:p>
        </p:txBody>
      </p:sp>
      <p:sp>
        <p:nvSpPr>
          <p:cNvPr id="504" name="Google Shape;504;p44">
            <a:extLst>
              <a:ext uri="{FF2B5EF4-FFF2-40B4-BE49-F238E27FC236}">
                <a16:creationId xmlns:a16="http://schemas.microsoft.com/office/drawing/2014/main" id="{C5746AC0-41ED-7B07-BF8D-83FFD2947F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590906"/>
            <a:ext cx="7704000" cy="28579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indent="0">
              <a:buNone/>
            </a:pPr>
            <a:r>
              <a:rPr lang="en-US" b="1" dirty="0"/>
              <a:t>Objectives:</a:t>
            </a:r>
            <a:endParaRPr lang="en-US" dirty="0"/>
          </a:p>
          <a:p>
            <a:r>
              <a:rPr lang="en-US" dirty="0"/>
              <a:t>Compare performances of Logistic Regression, Random Forest, and DNN models.</a:t>
            </a:r>
          </a:p>
          <a:p>
            <a:r>
              <a:rPr lang="en-US" dirty="0"/>
              <a:t>Assess impact of data preprocessing and feature selection on model performance.</a:t>
            </a:r>
          </a:p>
          <a:p>
            <a:r>
              <a:rPr lang="en-US" dirty="0"/>
              <a:t>Evaluate clinical characteristics (BMI, glucose, HbA1c) as predictors.</a:t>
            </a:r>
          </a:p>
          <a:p>
            <a:r>
              <a:rPr lang="en-US" dirty="0"/>
              <a:t>Provide practical insights for early intervention and prevention.</a:t>
            </a:r>
          </a:p>
          <a:p>
            <a:pPr marL="177800" indent="0">
              <a:buNone/>
            </a:pPr>
            <a:endParaRPr lang="en-US" dirty="0"/>
          </a:p>
        </p:txBody>
      </p:sp>
      <p:sp>
        <p:nvSpPr>
          <p:cNvPr id="505" name="Google Shape;505;p44">
            <a:extLst>
              <a:ext uri="{FF2B5EF4-FFF2-40B4-BE49-F238E27FC236}">
                <a16:creationId xmlns:a16="http://schemas.microsoft.com/office/drawing/2014/main" id="{8C9BE0C8-DCF5-77B6-0DB0-FCB541DBCA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5058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>
          <a:extLst>
            <a:ext uri="{FF2B5EF4-FFF2-40B4-BE49-F238E27FC236}">
              <a16:creationId xmlns:a16="http://schemas.microsoft.com/office/drawing/2014/main" id="{416FF53B-0FC5-E059-7941-A2C92DC08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>
            <a:extLst>
              <a:ext uri="{FF2B5EF4-FFF2-40B4-BE49-F238E27FC236}">
                <a16:creationId xmlns:a16="http://schemas.microsoft.com/office/drawing/2014/main" id="{CD4542EE-C7B7-924C-908D-007851057E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Dataset Background</a:t>
            </a:r>
            <a:endParaRPr lang="en-GB" b="0" dirty="0"/>
          </a:p>
        </p:txBody>
      </p:sp>
      <p:sp>
        <p:nvSpPr>
          <p:cNvPr id="504" name="Google Shape;504;p44">
            <a:extLst>
              <a:ext uri="{FF2B5EF4-FFF2-40B4-BE49-F238E27FC236}">
                <a16:creationId xmlns:a16="http://schemas.microsoft.com/office/drawing/2014/main" id="{785EF582-EB05-C2C0-C051-5466D243B9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590906"/>
            <a:ext cx="7704000" cy="28579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Dataset from UCI Machine Learning Repository: Diabetes data from 130 US hospitals (1999-2008).</a:t>
            </a:r>
          </a:p>
          <a:p>
            <a:r>
              <a:rPr lang="en-GB" dirty="0"/>
              <a:t>Over 101,000 patient encounters with 50+ attributes: demographics, clinical, lifestyle factors.</a:t>
            </a:r>
          </a:p>
          <a:p>
            <a:r>
              <a:rPr lang="en-GB" dirty="0"/>
              <a:t>Synthetic but realistic clinical data, anonymized and GDPR compliant.</a:t>
            </a:r>
          </a:p>
          <a:p>
            <a:r>
              <a:rPr lang="en-GB" dirty="0"/>
              <a:t>Primary variable: binary diabetes presence for supervised learning.</a:t>
            </a:r>
          </a:p>
          <a:p>
            <a:r>
              <a:rPr lang="en-GB" dirty="0"/>
              <a:t>Combines demographic, clinical, and lifestyle data for rich predictive modelling.</a:t>
            </a:r>
          </a:p>
        </p:txBody>
      </p:sp>
      <p:sp>
        <p:nvSpPr>
          <p:cNvPr id="505" name="Google Shape;505;p44">
            <a:extLst>
              <a:ext uri="{FF2B5EF4-FFF2-40B4-BE49-F238E27FC236}">
                <a16:creationId xmlns:a16="http://schemas.microsoft.com/office/drawing/2014/main" id="{7BDA40E7-B777-681A-4424-BAD51015110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7182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>
          <a:extLst>
            <a:ext uri="{FF2B5EF4-FFF2-40B4-BE49-F238E27FC236}">
              <a16:creationId xmlns:a16="http://schemas.microsoft.com/office/drawing/2014/main" id="{E99589D8-7D85-C79A-0103-0B1951977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>
            <a:extLst>
              <a:ext uri="{FF2B5EF4-FFF2-40B4-BE49-F238E27FC236}">
                <a16:creationId xmlns:a16="http://schemas.microsoft.com/office/drawing/2014/main" id="{6446BBB3-08F6-27DA-FCB2-70F230D758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Preprocessing and Feature Engineering</a:t>
            </a:r>
            <a:endParaRPr lang="en-GB" b="0" dirty="0"/>
          </a:p>
        </p:txBody>
      </p:sp>
      <p:sp>
        <p:nvSpPr>
          <p:cNvPr id="504" name="Google Shape;504;p44">
            <a:extLst>
              <a:ext uri="{FF2B5EF4-FFF2-40B4-BE49-F238E27FC236}">
                <a16:creationId xmlns:a16="http://schemas.microsoft.com/office/drawing/2014/main" id="{184F469F-C003-25A5-DCCD-039385AA58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590906"/>
            <a:ext cx="7704000" cy="28579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Replaced '?' with </a:t>
            </a:r>
            <a:r>
              <a:rPr lang="en-US" dirty="0" err="1"/>
              <a:t>NaN</a:t>
            </a:r>
            <a:r>
              <a:rPr lang="en-US" dirty="0"/>
              <a:t>; dropped columns with &gt;40% missing data.</a:t>
            </a:r>
          </a:p>
          <a:p>
            <a:r>
              <a:rPr lang="en-US" dirty="0"/>
              <a:t>Filled missing categorical values with mode; numerical with median.</a:t>
            </a:r>
          </a:p>
          <a:p>
            <a:r>
              <a:rPr lang="en-US" dirty="0"/>
              <a:t>Dropped duplicates and reset index.</a:t>
            </a:r>
          </a:p>
          <a:p>
            <a:r>
              <a:rPr lang="en-US" dirty="0"/>
              <a:t>Created binary target variable '</a:t>
            </a:r>
            <a:r>
              <a:rPr lang="en-US" dirty="0" err="1"/>
              <a:t>readmitted_binary</a:t>
            </a:r>
            <a:r>
              <a:rPr lang="en-US" dirty="0"/>
              <a:t>'.</a:t>
            </a:r>
          </a:p>
          <a:p>
            <a:r>
              <a:rPr lang="en-US" dirty="0"/>
              <a:t>Extracted numerical age midpoint from age ranges.</a:t>
            </a:r>
          </a:p>
          <a:p>
            <a:r>
              <a:rPr lang="en-US" dirty="0"/>
              <a:t>Dropped irrelevant columns: </a:t>
            </a:r>
            <a:r>
              <a:rPr lang="en-US" dirty="0" err="1"/>
              <a:t>encounter_id</a:t>
            </a:r>
            <a:r>
              <a:rPr lang="en-US" dirty="0"/>
              <a:t>, </a:t>
            </a:r>
            <a:r>
              <a:rPr lang="en-US" dirty="0" err="1"/>
              <a:t>patient_nbr</a:t>
            </a:r>
            <a:r>
              <a:rPr lang="en-US" dirty="0"/>
              <a:t>, readmitted, age.</a:t>
            </a:r>
          </a:p>
          <a:p>
            <a:r>
              <a:rPr lang="en-US" dirty="0"/>
              <a:t>Encoded categorical variables using LabelEncoder.</a:t>
            </a:r>
          </a:p>
          <a:p>
            <a:r>
              <a:rPr lang="en-US" dirty="0"/>
              <a:t>Split data into training and testing sets with stratification.</a:t>
            </a:r>
          </a:p>
        </p:txBody>
      </p:sp>
      <p:sp>
        <p:nvSpPr>
          <p:cNvPr id="505" name="Google Shape;505;p44">
            <a:extLst>
              <a:ext uri="{FF2B5EF4-FFF2-40B4-BE49-F238E27FC236}">
                <a16:creationId xmlns:a16="http://schemas.microsoft.com/office/drawing/2014/main" id="{364A6FE7-E9F2-2BD3-B28B-2042C0CC42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0452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>
          <a:extLst>
            <a:ext uri="{FF2B5EF4-FFF2-40B4-BE49-F238E27FC236}">
              <a16:creationId xmlns:a16="http://schemas.microsoft.com/office/drawing/2014/main" id="{24C82264-EEAF-7707-6FC6-289C495EE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>
            <a:extLst>
              <a:ext uri="{FF2B5EF4-FFF2-40B4-BE49-F238E27FC236}">
                <a16:creationId xmlns:a16="http://schemas.microsoft.com/office/drawing/2014/main" id="{54D8AB88-20B8-13E1-C8AE-9D8D6585B7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Model Training</a:t>
            </a:r>
            <a:br>
              <a:rPr lang="en-GB" b="0" dirty="0"/>
            </a:br>
            <a:endParaRPr lang="en-GB" b="0" dirty="0"/>
          </a:p>
        </p:txBody>
      </p:sp>
      <p:sp>
        <p:nvSpPr>
          <p:cNvPr id="504" name="Google Shape;504;p44">
            <a:extLst>
              <a:ext uri="{FF2B5EF4-FFF2-40B4-BE49-F238E27FC236}">
                <a16:creationId xmlns:a16="http://schemas.microsoft.com/office/drawing/2014/main" id="{5F12FAF5-CE38-2EEE-6E7E-1399DD42B6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590906"/>
            <a:ext cx="7704000" cy="28579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indent="0">
              <a:buNone/>
            </a:pPr>
            <a:r>
              <a:rPr lang="en-GB" dirty="0"/>
              <a:t>Random Forest:</a:t>
            </a:r>
          </a:p>
          <a:p>
            <a:r>
              <a:rPr lang="en-GB" dirty="0"/>
              <a:t>Baseline: </a:t>
            </a:r>
            <a:r>
              <a:rPr lang="en-GB" dirty="0" err="1"/>
              <a:t>Acc</a:t>
            </a:r>
            <a:r>
              <a:rPr lang="en-GB" dirty="0"/>
              <a:t>=0.6329, F1=0.5647</a:t>
            </a:r>
          </a:p>
          <a:p>
            <a:r>
              <a:rPr lang="en-GB" dirty="0"/>
              <a:t>Optimized: </a:t>
            </a:r>
            <a:r>
              <a:rPr lang="en-GB" dirty="0" err="1"/>
              <a:t>Acc</a:t>
            </a:r>
            <a:r>
              <a:rPr lang="en-GB" dirty="0"/>
              <a:t>=0.6425, F1=0.5630</a:t>
            </a:r>
          </a:p>
          <a:p>
            <a:endParaRPr lang="en-GB" dirty="0"/>
          </a:p>
          <a:p>
            <a:pPr marL="177800" indent="0">
              <a:buNone/>
            </a:pPr>
            <a:r>
              <a:rPr lang="en-GB" dirty="0"/>
              <a:t>Logistic Regression:</a:t>
            </a:r>
          </a:p>
          <a:p>
            <a:r>
              <a:rPr lang="en-GB" dirty="0"/>
              <a:t>Baseline: </a:t>
            </a:r>
            <a:r>
              <a:rPr lang="en-GB" dirty="0" err="1"/>
              <a:t>Acc</a:t>
            </a:r>
            <a:r>
              <a:rPr lang="en-GB" dirty="0"/>
              <a:t>=0.6192, F1=0.5559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505" name="Google Shape;505;p44">
            <a:extLst>
              <a:ext uri="{FF2B5EF4-FFF2-40B4-BE49-F238E27FC236}">
                <a16:creationId xmlns:a16="http://schemas.microsoft.com/office/drawing/2014/main" id="{DB2C8DE5-BCF5-84E6-0FEE-B762E6CC87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3" name="Google Shape;504;p44">
            <a:extLst>
              <a:ext uri="{FF2B5EF4-FFF2-40B4-BE49-F238E27FC236}">
                <a16:creationId xmlns:a16="http://schemas.microsoft.com/office/drawing/2014/main" id="{06A8AC71-CA2A-1867-E5AA-DE58C09BA251}"/>
              </a:ext>
            </a:extLst>
          </p:cNvPr>
          <p:cNvSpPr txBox="1">
            <a:spLocks/>
          </p:cNvSpPr>
          <p:nvPr/>
        </p:nvSpPr>
        <p:spPr>
          <a:xfrm>
            <a:off x="4572000" y="1590905"/>
            <a:ext cx="4191000" cy="285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177800" indent="0">
              <a:buFont typeface="Nunito Light"/>
              <a:buNone/>
            </a:pPr>
            <a:r>
              <a:rPr lang="en-GB" dirty="0"/>
              <a:t>Deep Neural Network:</a:t>
            </a:r>
          </a:p>
          <a:p>
            <a:r>
              <a:rPr lang="en-GB" dirty="0"/>
              <a:t>Baseline Scaled: </a:t>
            </a:r>
            <a:r>
              <a:rPr lang="en-GB" dirty="0" err="1"/>
              <a:t>Acc</a:t>
            </a:r>
            <a:r>
              <a:rPr lang="en-GB" dirty="0"/>
              <a:t>=0.6298, F1=0.5906</a:t>
            </a:r>
          </a:p>
          <a:p>
            <a:r>
              <a:rPr lang="en-GB" dirty="0"/>
              <a:t>DNN Opt1: </a:t>
            </a:r>
            <a:r>
              <a:rPr lang="en-GB" dirty="0" err="1"/>
              <a:t>Acc</a:t>
            </a:r>
            <a:r>
              <a:rPr lang="en-GB" dirty="0"/>
              <a:t>=0.6334, F1=0.5732</a:t>
            </a:r>
          </a:p>
          <a:p>
            <a:r>
              <a:rPr lang="en-GB" dirty="0"/>
              <a:t>DNN Opt2: </a:t>
            </a:r>
            <a:r>
              <a:rPr lang="en-GB" dirty="0" err="1"/>
              <a:t>Acc</a:t>
            </a:r>
            <a:r>
              <a:rPr lang="en-GB" dirty="0"/>
              <a:t>=0.6321, F1=0.5726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3438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>
          <a:extLst>
            <a:ext uri="{FF2B5EF4-FFF2-40B4-BE49-F238E27FC236}">
              <a16:creationId xmlns:a16="http://schemas.microsoft.com/office/drawing/2014/main" id="{661F5521-13E5-700B-CC3A-889EECD0D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4">
            <a:extLst>
              <a:ext uri="{FF2B5EF4-FFF2-40B4-BE49-F238E27FC236}">
                <a16:creationId xmlns:a16="http://schemas.microsoft.com/office/drawing/2014/main" id="{233C3625-5F01-3431-A6B6-7323B959CA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BF8E82-4CD9-BCAE-F387-516AE8FAD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98" y="418999"/>
            <a:ext cx="8673404" cy="430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633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>
          <a:extLst>
            <a:ext uri="{FF2B5EF4-FFF2-40B4-BE49-F238E27FC236}">
              <a16:creationId xmlns:a16="http://schemas.microsoft.com/office/drawing/2014/main" id="{46DEFE8E-33A0-5EDD-2112-AE1467517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>
            <a:extLst>
              <a:ext uri="{FF2B5EF4-FFF2-40B4-BE49-F238E27FC236}">
                <a16:creationId xmlns:a16="http://schemas.microsoft.com/office/drawing/2014/main" id="{6FF58BE9-353A-207E-3B06-2BE781D9F4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Results</a:t>
            </a:r>
            <a:endParaRPr lang="en-GB" b="0" dirty="0"/>
          </a:p>
        </p:txBody>
      </p:sp>
      <p:sp>
        <p:nvSpPr>
          <p:cNvPr id="504" name="Google Shape;504;p44">
            <a:extLst>
              <a:ext uri="{FF2B5EF4-FFF2-40B4-BE49-F238E27FC236}">
                <a16:creationId xmlns:a16="http://schemas.microsoft.com/office/drawing/2014/main" id="{49B657FC-094E-8924-5E2A-3F57059176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590906"/>
            <a:ext cx="7704000" cy="28579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Random Forest (optimized) achieved the highest accuracy (0.6425).</a:t>
            </a:r>
          </a:p>
          <a:p>
            <a:r>
              <a:rPr lang="en-US" dirty="0"/>
              <a:t>DNN (baseline scaled) achieved the best F1-score (0.5906).</a:t>
            </a:r>
          </a:p>
          <a:p>
            <a:r>
              <a:rPr lang="en-US" dirty="0"/>
              <a:t>Logistic Regression performed competitively with balanced metrics.</a:t>
            </a:r>
          </a:p>
          <a:p>
            <a:r>
              <a:rPr lang="en-US" dirty="0"/>
              <a:t>All models produced similar accuracy ranges (0.62–0.64).</a:t>
            </a:r>
          </a:p>
          <a:p>
            <a:r>
              <a:rPr lang="en-US" dirty="0"/>
              <a:t>Scaling and class weighting improved DNN performance significantly.</a:t>
            </a:r>
          </a:p>
        </p:txBody>
      </p:sp>
      <p:sp>
        <p:nvSpPr>
          <p:cNvPr id="505" name="Google Shape;505;p44">
            <a:extLst>
              <a:ext uri="{FF2B5EF4-FFF2-40B4-BE49-F238E27FC236}">
                <a16:creationId xmlns:a16="http://schemas.microsoft.com/office/drawing/2014/main" id="{D76C8825-7419-0B43-9CF0-341BF93F20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8322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>
          <a:extLst>
            <a:ext uri="{FF2B5EF4-FFF2-40B4-BE49-F238E27FC236}">
              <a16:creationId xmlns:a16="http://schemas.microsoft.com/office/drawing/2014/main" id="{3C3067FD-C87E-95B3-544D-AF0044C15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>
            <a:extLst>
              <a:ext uri="{FF2B5EF4-FFF2-40B4-BE49-F238E27FC236}">
                <a16:creationId xmlns:a16="http://schemas.microsoft.com/office/drawing/2014/main" id="{10B1CE9F-5792-DA6C-C2DE-E3ED42DCA9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Conclusion</a:t>
            </a:r>
            <a:endParaRPr lang="en-GB" b="0" dirty="0"/>
          </a:p>
        </p:txBody>
      </p:sp>
      <p:sp>
        <p:nvSpPr>
          <p:cNvPr id="504" name="Google Shape;504;p44">
            <a:extLst>
              <a:ext uri="{FF2B5EF4-FFF2-40B4-BE49-F238E27FC236}">
                <a16:creationId xmlns:a16="http://schemas.microsoft.com/office/drawing/2014/main" id="{B65C92F3-5329-DB17-6545-7827C7876C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590906"/>
            <a:ext cx="7704000" cy="28579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Successfully developed and compared Logistic Regression, Random Forest, and DNN models.</a:t>
            </a:r>
          </a:p>
          <a:p>
            <a:r>
              <a:rPr lang="en-US" dirty="0"/>
              <a:t>Random Forest achieved the highest accuracy, while the scaled DNN produced the best F1-score.</a:t>
            </a:r>
          </a:p>
          <a:p>
            <a:r>
              <a:rPr lang="en-US" dirty="0"/>
              <a:t>Clinical and lifestyle features contributed meaningfully to prediction performance.</a:t>
            </a:r>
          </a:p>
          <a:p>
            <a:r>
              <a:rPr lang="en-US" dirty="0"/>
              <a:t>Different models excelled in different metrics, aiding informed model selection.</a:t>
            </a:r>
          </a:p>
          <a:p>
            <a:r>
              <a:rPr lang="en-US" dirty="0"/>
              <a:t>Preprocessing steps, including scaling and handling imbalance, were critical for improved results.</a:t>
            </a:r>
          </a:p>
        </p:txBody>
      </p:sp>
      <p:sp>
        <p:nvSpPr>
          <p:cNvPr id="505" name="Google Shape;505;p44">
            <a:extLst>
              <a:ext uri="{FF2B5EF4-FFF2-40B4-BE49-F238E27FC236}">
                <a16:creationId xmlns:a16="http://schemas.microsoft.com/office/drawing/2014/main" id="{58822017-DC1E-9F90-6D8C-483472C6C0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9363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>
          <a:extLst>
            <a:ext uri="{FF2B5EF4-FFF2-40B4-BE49-F238E27FC236}">
              <a16:creationId xmlns:a16="http://schemas.microsoft.com/office/drawing/2014/main" id="{5436EDB6-9577-A9D4-2FCF-637A108C4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>
            <a:extLst>
              <a:ext uri="{FF2B5EF4-FFF2-40B4-BE49-F238E27FC236}">
                <a16:creationId xmlns:a16="http://schemas.microsoft.com/office/drawing/2014/main" id="{83D1ADD8-4B92-BA3C-A1C8-0FF6E5CCF7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Future Work</a:t>
            </a:r>
            <a:endParaRPr lang="en-GB" b="0" dirty="0"/>
          </a:p>
        </p:txBody>
      </p:sp>
      <p:sp>
        <p:nvSpPr>
          <p:cNvPr id="504" name="Google Shape;504;p44">
            <a:extLst>
              <a:ext uri="{FF2B5EF4-FFF2-40B4-BE49-F238E27FC236}">
                <a16:creationId xmlns:a16="http://schemas.microsoft.com/office/drawing/2014/main" id="{B1D3C31D-60D0-82DE-8A18-89A590E5ED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590906"/>
            <a:ext cx="7704000" cy="28579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Explore additional machine learning and deep learning models.</a:t>
            </a:r>
          </a:p>
          <a:p>
            <a:r>
              <a:rPr lang="en-US" dirty="0"/>
              <a:t>Apply advanced feature selection and dimensionality reduction.</a:t>
            </a:r>
          </a:p>
          <a:p>
            <a:r>
              <a:rPr lang="en-US" dirty="0"/>
              <a:t>Incorporate longitudinal data for temporal modeling.</a:t>
            </a:r>
          </a:p>
          <a:p>
            <a:r>
              <a:rPr lang="en-US" dirty="0"/>
              <a:t>Enhance model interpretability for clinical adoption.</a:t>
            </a:r>
          </a:p>
          <a:p>
            <a:r>
              <a:rPr lang="en-US" dirty="0"/>
              <a:t>Validate models on external datasets.</a:t>
            </a:r>
          </a:p>
          <a:p>
            <a:r>
              <a:rPr lang="en-US" dirty="0"/>
              <a:t>Develop clinical decision support tools based on best models.</a:t>
            </a:r>
          </a:p>
        </p:txBody>
      </p:sp>
      <p:sp>
        <p:nvSpPr>
          <p:cNvPr id="505" name="Google Shape;505;p44">
            <a:extLst>
              <a:ext uri="{FF2B5EF4-FFF2-40B4-BE49-F238E27FC236}">
                <a16:creationId xmlns:a16="http://schemas.microsoft.com/office/drawing/2014/main" id="{569ACF12-CF79-2E93-8291-08580F4A35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3632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>
          <a:extLst>
            <a:ext uri="{FF2B5EF4-FFF2-40B4-BE49-F238E27FC236}">
              <a16:creationId xmlns:a16="http://schemas.microsoft.com/office/drawing/2014/main" id="{FB241B9C-C8EF-C171-2B98-C73654F55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>
            <a:extLst>
              <a:ext uri="{FF2B5EF4-FFF2-40B4-BE49-F238E27FC236}">
                <a16:creationId xmlns:a16="http://schemas.microsoft.com/office/drawing/2014/main" id="{8EC8EA73-F2DD-A9FE-AD52-091CA9B606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References</a:t>
            </a:r>
            <a:endParaRPr lang="en-GB" b="0" dirty="0"/>
          </a:p>
        </p:txBody>
      </p:sp>
      <p:sp>
        <p:nvSpPr>
          <p:cNvPr id="504" name="Google Shape;504;p44">
            <a:extLst>
              <a:ext uri="{FF2B5EF4-FFF2-40B4-BE49-F238E27FC236}">
                <a16:creationId xmlns:a16="http://schemas.microsoft.com/office/drawing/2014/main" id="{5953908B-4A75-A980-C66E-2189A5879C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33315"/>
            <a:ext cx="7704000" cy="28579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100" dirty="0"/>
              <a:t>American Diabetes Association, 2023. Standards of Medical Care in Diabetes—2023. Diabetes Care, 46(Supplement 1), pp. S1–S216.</a:t>
            </a:r>
          </a:p>
          <a:p>
            <a:r>
              <a:rPr lang="en-GB" sz="1100" dirty="0" err="1"/>
              <a:t>Breiman</a:t>
            </a:r>
            <a:r>
              <a:rPr lang="en-GB" sz="1100" dirty="0"/>
              <a:t>, L., 2001. Random Forests. Machine Learning, 45(1), pp. 5–32.</a:t>
            </a:r>
          </a:p>
          <a:p>
            <a:r>
              <a:rPr lang="en-GB" sz="1100" dirty="0"/>
              <a:t>Choudhury, A., Asan, O. and Le, T., 2020. Comparative Analysis of Machine Learning Approaches for Diabetes Prediction. Health Informatics Journal, 26(3), pp. 1982–1996.</a:t>
            </a:r>
          </a:p>
          <a:p>
            <a:r>
              <a:rPr lang="en-GB" sz="1100" dirty="0"/>
              <a:t>Clore, J., </a:t>
            </a:r>
            <a:r>
              <a:rPr lang="en-GB" sz="1100" dirty="0" err="1"/>
              <a:t>Cios</a:t>
            </a:r>
            <a:r>
              <a:rPr lang="en-GB" sz="1100" dirty="0"/>
              <a:t>, K., DeShazo, J., Strack, B., Gennings, C., Olmo, J. and Ventura, S., 2014. Diabetes 130-US hospitals for years 1999–2008. UCI Machine Learning Repository.</a:t>
            </a:r>
          </a:p>
          <a:p>
            <a:r>
              <a:rPr lang="en-GB" sz="1100" dirty="0"/>
              <a:t>Hosmer, D.W., </a:t>
            </a:r>
            <a:r>
              <a:rPr lang="en-GB" sz="1100" dirty="0" err="1"/>
              <a:t>Lemeshow</a:t>
            </a:r>
            <a:r>
              <a:rPr lang="en-GB" sz="1100" dirty="0"/>
              <a:t>, S. and Sturdivant, R.X., 2013. Applied Logistic Regression. 3rd ed. Hoboken: Wiley.</a:t>
            </a:r>
          </a:p>
          <a:p>
            <a:r>
              <a:rPr lang="en-GB" sz="1100" dirty="0" err="1"/>
              <a:t>Kavakiotis</a:t>
            </a:r>
            <a:r>
              <a:rPr lang="en-GB" sz="1100" dirty="0"/>
              <a:t>, I., </a:t>
            </a:r>
            <a:r>
              <a:rPr lang="en-GB" sz="1100" dirty="0" err="1"/>
              <a:t>Tsave</a:t>
            </a:r>
            <a:r>
              <a:rPr lang="en-GB" sz="1100" dirty="0"/>
              <a:t>, O., </a:t>
            </a:r>
            <a:r>
              <a:rPr lang="en-GB" sz="1100" dirty="0" err="1"/>
              <a:t>Salifoglou</a:t>
            </a:r>
            <a:r>
              <a:rPr lang="en-GB" sz="1100" dirty="0"/>
              <a:t>, A., </a:t>
            </a:r>
            <a:r>
              <a:rPr lang="en-GB" sz="1100" dirty="0" err="1"/>
              <a:t>Maglaveras</a:t>
            </a:r>
            <a:r>
              <a:rPr lang="en-GB" sz="1100" dirty="0"/>
              <a:t>, N., </a:t>
            </a:r>
            <a:r>
              <a:rPr lang="en-GB" sz="1100" dirty="0" err="1"/>
              <a:t>Vlahavas</a:t>
            </a:r>
            <a:r>
              <a:rPr lang="en-GB" sz="1100" dirty="0"/>
              <a:t>, I. and </a:t>
            </a:r>
            <a:r>
              <a:rPr lang="en-GB" sz="1100" dirty="0" err="1"/>
              <a:t>Chouvarda</a:t>
            </a:r>
            <a:r>
              <a:rPr lang="en-GB" sz="1100" dirty="0"/>
              <a:t>, I., 2017. Machine Learning and Data Mining Methods in Diabetes Research. Computational and Structural Biotechnology Journal, 15, pp. 104–116.</a:t>
            </a:r>
          </a:p>
          <a:p>
            <a:r>
              <a:rPr lang="en-GB" sz="1100" dirty="0"/>
              <a:t>Strack, B., DeShazo, J., Gennings, C., Olmo, J., Ventura, S., </a:t>
            </a:r>
            <a:r>
              <a:rPr lang="en-GB" sz="1100" dirty="0" err="1"/>
              <a:t>Cios</a:t>
            </a:r>
            <a:r>
              <a:rPr lang="en-GB" sz="1100" dirty="0"/>
              <a:t>, K. and Clore, J., 2014. Impact of HbA1c measurement on hospital readmission rates: Analysis of 70,000 clinical database patient records. BioMed Research International, 2014, Article ID 767340.</a:t>
            </a:r>
          </a:p>
          <a:p>
            <a:r>
              <a:rPr lang="en-GB" sz="1100" dirty="0"/>
              <a:t>World Health Organization, 2021. Global report on diabetes. Geneva: WHO.</a:t>
            </a:r>
          </a:p>
        </p:txBody>
      </p:sp>
      <p:sp>
        <p:nvSpPr>
          <p:cNvPr id="505" name="Google Shape;505;p44">
            <a:extLst>
              <a:ext uri="{FF2B5EF4-FFF2-40B4-BE49-F238E27FC236}">
                <a16:creationId xmlns:a16="http://schemas.microsoft.com/office/drawing/2014/main" id="{B4CA84B7-0756-3AD1-389B-0ED5CEF78A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7134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5"/>
          <p:cNvSpPr txBox="1">
            <a:spLocks noGrp="1"/>
          </p:cNvSpPr>
          <p:nvPr>
            <p:ph type="title"/>
          </p:nvPr>
        </p:nvSpPr>
        <p:spPr>
          <a:xfrm>
            <a:off x="1284000" y="1429725"/>
            <a:ext cx="6576000" cy="140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  <p:sp>
        <p:nvSpPr>
          <p:cNvPr id="364" name="Google Shape;364;p35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99FB85-E9DD-097C-3BF7-7815E9C78D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gant Bachelor Thesis by Slidesgo">
  <a:themeElements>
    <a:clrScheme name="Simple Light">
      <a:dk1>
        <a:srgbClr val="5C5C5F"/>
      </a:dk1>
      <a:lt1>
        <a:srgbClr val="D8CEC9"/>
      </a:lt1>
      <a:dk2>
        <a:srgbClr val="927C71"/>
      </a:dk2>
      <a:lt2>
        <a:srgbClr val="FAFAFA"/>
      </a:lt2>
      <a:accent1>
        <a:srgbClr val="C99A7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863</Words>
  <Application>Microsoft Office PowerPoint</Application>
  <PresentationFormat>On-screen Show (16:9)</PresentationFormat>
  <Paragraphs>85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Nunito</vt:lpstr>
      <vt:lpstr>Mulish</vt:lpstr>
      <vt:lpstr>Quicksand</vt:lpstr>
      <vt:lpstr>Arial</vt:lpstr>
      <vt:lpstr>Nunito Light</vt:lpstr>
      <vt:lpstr>Elegant Bachelor Thesis by Slidesgo</vt:lpstr>
      <vt:lpstr>Comparative Analysis of Logistic Regression, Random Forest, and Deep Neural Networks for Diabetes Prediction</vt:lpstr>
      <vt:lpstr>Research Gap</vt:lpstr>
      <vt:lpstr>Aim (Research Question)</vt:lpstr>
      <vt:lpstr>Research Objectives</vt:lpstr>
      <vt:lpstr>Dataset Background</vt:lpstr>
      <vt:lpstr>Preprocessing and Feature Engineering</vt:lpstr>
      <vt:lpstr>Model Training </vt:lpstr>
      <vt:lpstr>PowerPoint Presentation</vt:lpstr>
      <vt:lpstr>Results</vt:lpstr>
      <vt:lpstr>Conclusion</vt:lpstr>
      <vt:lpstr>Future Work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Samuel Thudi</cp:lastModifiedBy>
  <cp:revision>13</cp:revision>
  <dcterms:modified xsi:type="dcterms:W3CDTF">2025-11-23T23:15:43Z</dcterms:modified>
</cp:coreProperties>
</file>